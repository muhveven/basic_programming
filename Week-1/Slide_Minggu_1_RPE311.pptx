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5029200" cy="5029200"/>
          </a:xfrm>
          <a:prstGeom prst="ellipse">
            <a:avLst/>
          </a:prstGeom>
          <a:solidFill>
            <a:srgbClr val="1236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0E2E4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640080" cy="64008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Image 0" descr="/home/claude/icon_zap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9308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6002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C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 ·  TEKNOLOGI REKAYASA PEMBANGKIT ENERGI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Dasar Pemrograman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Python untuk Analisis Data Pembangkit Energi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3977640"/>
            <a:ext cx="6035040" cy="502920"/>
          </a:xfrm>
          <a:prstGeom prst="roundRect">
            <a:avLst>
              <a:gd name="adj" fmla="val 50909"/>
            </a:avLst>
          </a:prstGeom>
          <a:solidFill>
            <a:srgbClr val="12365A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9776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1  ·  Introduction to Python &amp; Coding Environment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270 menit  ·  CLO-1  ·  Live coding di Google Colab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8F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Veven, S.Kom., M.Eng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BESAR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Peta Alur Mata Kuliah — 14 Minggu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320040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72200" y="32004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1–7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Fondasi Pemrograman Python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68680" y="42793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· Variabel · Control Flow · Array · Fungsi (CLO-1)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0" y="34015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8–14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Data Pembangkit Energi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0800" y="427939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4F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Wrangling · EDA · Visualisasi · Dashboard · Etika Data (CLO-2–5)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623560" y="3886200"/>
            <a:ext cx="502920" cy="365760"/>
          </a:xfrm>
          <a:prstGeom prst="rightArrow">
            <a:avLst/>
          </a:prstGeom>
          <a:solidFill>
            <a:srgbClr val="F2A93B"/>
          </a:solidFill>
          <a:ln/>
        </p:spPr>
      </p:sp>
      <p:sp>
        <p:nvSpPr>
          <p:cNvPr id="15" name="Shape 12"/>
          <p:cNvSpPr/>
          <p:nvPr/>
        </p:nvSpPr>
        <p:spPr>
          <a:xfrm>
            <a:off x="640080" y="525780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5F7FA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5257800"/>
            <a:ext cx="10378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ada di sini hari ini: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Minggu 1 — meletakkan fondasi Python (Colab, variabel, I/O) yang akan langsung dipakai untuk membaca &amp; menganalisis data operasional pembangkit mulai Minggu 8.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targe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PEMBELAJARAN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Ini, Mahasiswa Mampu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1442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/home/claude/icon_z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575" y="2267163"/>
            <a:ext cx="266273" cy="26627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9431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508760" y="1856232"/>
            <a:ext cx="4251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peran Python di rekayasa pembangkit energi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309360" y="169164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37960" y="214426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icon_terminal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855" y="2267163"/>
            <a:ext cx="266273" cy="26627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37960" y="194310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7178040" y="1856232"/>
            <a:ext cx="4251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lingkungan Google Colab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640080" y="3246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68680" y="36987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icon_cod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575" y="3821643"/>
            <a:ext cx="266273" cy="26627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4975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508760" y="3410712"/>
            <a:ext cx="4251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&amp; menjalankan program Python pertama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309360" y="324612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37960" y="369874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4" descr="/home/claude/icon_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0855" y="3821643"/>
            <a:ext cx="266273" cy="26627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537960" y="349758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7178040" y="3410712"/>
            <a:ext cx="4251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Mendeklarasikan variabel &amp; tipe data dasar</a:t>
            </a:r>
            <a:endParaRPr lang="en-US" sz="1450" dirty="0"/>
          </a:p>
        </p:txBody>
      </p:sp>
      <p:sp>
        <p:nvSpPr>
          <p:cNvPr id="26" name="Shape 19"/>
          <p:cNvSpPr/>
          <p:nvPr/>
        </p:nvSpPr>
        <p:spPr>
          <a:xfrm>
            <a:off x="640080" y="48006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868680" y="52532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5" descr="/home/claude/icon_message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1575" y="5376123"/>
            <a:ext cx="266273" cy="266273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68680" y="505206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1508760" y="4965192"/>
            <a:ext cx="4251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input() dan print() secara efektif</a:t>
            </a:r>
            <a:endParaRPr lang="en-US" sz="1450" dirty="0"/>
          </a:p>
        </p:txBody>
      </p:sp>
      <p:sp>
        <p:nvSpPr>
          <p:cNvPr id="31" name="Shape 23"/>
          <p:cNvSpPr/>
          <p:nvPr/>
        </p:nvSpPr>
        <p:spPr>
          <a:xfrm>
            <a:off x="6309360" y="4800600"/>
            <a:ext cx="5349240" cy="1417320"/>
          </a:xfrm>
          <a:prstGeom prst="roundRect">
            <a:avLst>
              <a:gd name="adj" fmla="val 5806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537960" y="5253228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6" descr="/home/claude/icon_filetex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0855" y="5376123"/>
            <a:ext cx="266273" cy="266273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537960" y="5052060"/>
            <a:ext cx="5120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7178040" y="4965192"/>
            <a:ext cx="42519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Menulis komentar kode yang jelas</a:t>
            </a:r>
            <a:endParaRPr lang="en-US" sz="1450" dirty="0"/>
          </a:p>
        </p:txBody>
      </p:sp>
      <p:sp>
        <p:nvSpPr>
          <p:cNvPr id="36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c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RENCANA SESI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Rencana Waktu — 270 Menit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1929384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8" name="Text 5"/>
          <p:cNvSpPr/>
          <p:nvPr/>
        </p:nvSpPr>
        <p:spPr>
          <a:xfrm>
            <a:off x="749808" y="19293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61872" y="1874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&amp; Diagnostik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303520" y="18745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58775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12" name="Shape 9"/>
          <p:cNvSpPr/>
          <p:nvPr/>
        </p:nvSpPr>
        <p:spPr>
          <a:xfrm>
            <a:off x="749808" y="2642616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3" name="Text 10"/>
          <p:cNvSpPr/>
          <p:nvPr/>
        </p:nvSpPr>
        <p:spPr>
          <a:xfrm>
            <a:off x="749808" y="26426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261872" y="25877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Python untuk Pembangkit?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258775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3300984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17" name="Shape 14"/>
          <p:cNvSpPr/>
          <p:nvPr/>
        </p:nvSpPr>
        <p:spPr>
          <a:xfrm>
            <a:off x="749808" y="335584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8" name="Text 15"/>
          <p:cNvSpPr/>
          <p:nvPr/>
        </p:nvSpPr>
        <p:spPr>
          <a:xfrm>
            <a:off x="749808" y="33558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261872" y="33009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 Google Colab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303520" y="33009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40080" y="401421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22" name="Shape 19"/>
          <p:cNvSpPr/>
          <p:nvPr/>
        </p:nvSpPr>
        <p:spPr>
          <a:xfrm>
            <a:off x="749808" y="406908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0690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261872" y="40142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Pertama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303520" y="401421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472744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27" name="Shape 24"/>
          <p:cNvSpPr/>
          <p:nvPr/>
        </p:nvSpPr>
        <p:spPr>
          <a:xfrm>
            <a:off x="749808" y="478231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8" name="Text 25"/>
          <p:cNvSpPr/>
          <p:nvPr/>
        </p:nvSpPr>
        <p:spPr>
          <a:xfrm>
            <a:off x="749808" y="4782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261872" y="4727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&amp; Tipe Data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303520" y="472744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45'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6309360" y="187452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BEFD9"/>
          </a:solidFill>
          <a:ln/>
        </p:spPr>
      </p:sp>
      <p:sp>
        <p:nvSpPr>
          <p:cNvPr id="32" name="Shape 29"/>
          <p:cNvSpPr/>
          <p:nvPr/>
        </p:nvSpPr>
        <p:spPr>
          <a:xfrm>
            <a:off x="6419088" y="1929384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3" name="Text 30"/>
          <p:cNvSpPr/>
          <p:nvPr/>
        </p:nvSpPr>
        <p:spPr>
          <a:xfrm>
            <a:off x="6419088" y="192938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31152" y="187452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Istirahat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972800" y="1874520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1300" dirty="0"/>
          </a:p>
        </p:txBody>
      </p:sp>
      <p:sp>
        <p:nvSpPr>
          <p:cNvPr id="36" name="Shape 33"/>
          <p:cNvSpPr/>
          <p:nvPr/>
        </p:nvSpPr>
        <p:spPr>
          <a:xfrm>
            <a:off x="6309360" y="2587752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37" name="Shape 34"/>
          <p:cNvSpPr/>
          <p:nvPr/>
        </p:nvSpPr>
        <p:spPr>
          <a:xfrm>
            <a:off x="6419088" y="2642616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38" name="Text 35"/>
          <p:cNvSpPr/>
          <p:nvPr/>
        </p:nvSpPr>
        <p:spPr>
          <a:xfrm>
            <a:off x="6419088" y="264261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931152" y="2587752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10972800" y="2587752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40'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6309360" y="3300984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42" name="Shape 39"/>
          <p:cNvSpPr/>
          <p:nvPr/>
        </p:nvSpPr>
        <p:spPr>
          <a:xfrm>
            <a:off x="6419088" y="3355848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3" name="Text 40"/>
          <p:cNvSpPr/>
          <p:nvPr/>
        </p:nvSpPr>
        <p:spPr>
          <a:xfrm>
            <a:off x="6419088" y="335584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200" dirty="0"/>
          </a:p>
        </p:txBody>
      </p:sp>
      <p:sp>
        <p:nvSpPr>
          <p:cNvPr id="44" name="Text 41"/>
          <p:cNvSpPr/>
          <p:nvPr/>
        </p:nvSpPr>
        <p:spPr>
          <a:xfrm>
            <a:off x="6931152" y="3300984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 Kode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972800" y="3300984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309360" y="4014216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47" name="Shape 44"/>
          <p:cNvSpPr/>
          <p:nvPr/>
        </p:nvSpPr>
        <p:spPr>
          <a:xfrm>
            <a:off x="6419088" y="4069080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48" name="Text 45"/>
          <p:cNvSpPr/>
          <p:nvPr/>
        </p:nvSpPr>
        <p:spPr>
          <a:xfrm>
            <a:off x="6419088" y="4069080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6931152" y="4014216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Kasus: Efisiensi Termal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10972800" y="4014216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50'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6309360" y="4727448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F5F7FA"/>
          </a:solidFill>
          <a:ln/>
        </p:spPr>
      </p:sp>
      <p:sp>
        <p:nvSpPr>
          <p:cNvPr id="52" name="Shape 49"/>
          <p:cNvSpPr/>
          <p:nvPr/>
        </p:nvSpPr>
        <p:spPr>
          <a:xfrm>
            <a:off x="6419088" y="4782312"/>
            <a:ext cx="384048" cy="310896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53" name="Text 50"/>
          <p:cNvSpPr/>
          <p:nvPr/>
        </p:nvSpPr>
        <p:spPr>
          <a:xfrm>
            <a:off x="6419088" y="478231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6931152" y="47274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Rangkuman &amp; Journal</a:t>
            </a:r>
            <a:endParaRPr lang="en-US" sz="1300" dirty="0"/>
          </a:p>
        </p:txBody>
      </p:sp>
      <p:sp>
        <p:nvSpPr>
          <p:cNvPr id="55" name="Text 52"/>
          <p:cNvSpPr/>
          <p:nvPr/>
        </p:nvSpPr>
        <p:spPr>
          <a:xfrm>
            <a:off x="10972800" y="4727448"/>
            <a:ext cx="594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/home/claude/icon_zap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KONTEKS INDUSTRI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Python untuk Rekayasa Pembangkit?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8" name="Image 1" descr="/home/claude/icon_terminal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786" y="2253082"/>
            <a:ext cx="285293" cy="285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SCADA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868680" y="3520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Memproses ribuan baris log sensor operasional pembangkit per hari.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502152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758184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2" descr="/home/claude/icon_database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9858" y="2253082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30752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Efisiensi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3730752" y="3520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efisiensi termal, heat rate, dan capacity factor unit pembangkit.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64224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620256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3" descr="/home/claude/icon_code_0B254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2253082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92824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Alternatif Excel/SPSS</a:t>
            </a:r>
            <a:endParaRPr lang="en-US" sz="1650" dirty="0"/>
          </a:p>
        </p:txBody>
      </p:sp>
      <p:sp>
        <p:nvSpPr>
          <p:cNvPr id="20" name="Text 14"/>
          <p:cNvSpPr/>
          <p:nvPr/>
        </p:nvSpPr>
        <p:spPr>
          <a:xfrm>
            <a:off x="6592824" y="3520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tangguh untuk data besar dibanding tools spreadsheet/statistik klasik.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9226296" y="182880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482328" y="2121408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23" name="Image 4" descr="/home/claude/icon_check_0B254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4002" y="2253082"/>
            <a:ext cx="285293" cy="28529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54896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Real-time</a:t>
            </a:r>
            <a:endParaRPr lang="en-US" sz="1650" dirty="0"/>
          </a:p>
        </p:txBody>
      </p:sp>
      <p:sp>
        <p:nvSpPr>
          <p:cNvPr id="25" name="Text 18"/>
          <p:cNvSpPr/>
          <p:nvPr/>
        </p:nvSpPr>
        <p:spPr>
          <a:xfrm>
            <a:off x="9454896" y="3520440"/>
            <a:ext cx="2148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Dasar untuk dashboard pemantauan kinerja pembangkit (akan dipelajari di Minggu 14).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Diagnostik Pembuka (Non-Nilai)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masuk materi, kita cek dulu pemahaman logika dasar — hasilnya tidak dinilai, hanya untuk menyesuaikan kecepatan mengajar &amp; membentuk kelompok kerja.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25786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508760" y="23774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Urutkan langkah membuat kopi menjadi langkah-langkah bernomor.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358444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3" name="Text 10"/>
          <p:cNvSpPr/>
          <p:nvPr/>
        </p:nvSpPr>
        <p:spPr>
          <a:xfrm>
            <a:off x="868680" y="3584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508760" y="33832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“Jika suhu &gt; 100°C maka air mendidih” — buat kalimat “jika...maka...” untuk kasus lain.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0080" y="43891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8680" y="459028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508760" y="43891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yang sudah pernah menulis kode (bahasa apa saja)?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55321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FBEFD9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memetakan kemampuan awal untuk kelompok kerja berpasangan yang heterogen di sesi studi kasus nanti.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terminal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C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 Google Colab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929384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9293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325880" y="1783080"/>
            <a:ext cx="10195560" cy="704088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9" name="Text 6"/>
          <p:cNvSpPr/>
          <p:nvPr/>
        </p:nvSpPr>
        <p:spPr>
          <a:xfrm>
            <a:off x="1554480" y="1783080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colab.research.google.com, login dengan akun Google.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40080" y="2816352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25880" y="2670048"/>
            <a:ext cx="10195560" cy="704088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13" name="Text 10"/>
          <p:cNvSpPr/>
          <p:nvPr/>
        </p:nvSpPr>
        <p:spPr>
          <a:xfrm>
            <a:off x="1554480" y="2670048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notebook baru, ganti nama file (mis. RPE311_W1_Nama.ipynb).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0080" y="370332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1325880" y="3557016"/>
            <a:ext cx="10195560" cy="704088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17" name="Text 14"/>
          <p:cNvSpPr/>
          <p:nvPr/>
        </p:nvSpPr>
        <p:spPr>
          <a:xfrm>
            <a:off x="1554480" y="3557016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 perbedaan Code cell vs Text cell (Markdown).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40080" y="4590288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1325880" y="4443984"/>
            <a:ext cx="10195560" cy="704088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21" name="Text 18"/>
          <p:cNvSpPr/>
          <p:nvPr/>
        </p:nvSpPr>
        <p:spPr>
          <a:xfrm>
            <a:off x="1554480" y="4443984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cell dengan Shift+Enter; sisipkan/hapus cell.</a:t>
            </a:r>
            <a:endParaRPr lang="en-US" sz="1450" dirty="0"/>
          </a:p>
        </p:txBody>
      </p:sp>
      <p:sp>
        <p:nvSpPr>
          <p:cNvPr id="22" name="Shape 19"/>
          <p:cNvSpPr/>
          <p:nvPr/>
        </p:nvSpPr>
        <p:spPr>
          <a:xfrm>
            <a:off x="640080" y="5477256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2545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5477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1325880" y="5330952"/>
            <a:ext cx="10195560" cy="704088"/>
          </a:xfrm>
          <a:prstGeom prst="roundRect">
            <a:avLst>
              <a:gd name="adj" fmla="val 9091"/>
            </a:avLst>
          </a:prstGeom>
          <a:solidFill>
            <a:srgbClr val="F5F7FA"/>
          </a:solidFill>
          <a:ln/>
        </p:spPr>
      </p:sp>
      <p:sp>
        <p:nvSpPr>
          <p:cNvPr id="25" name="Text 22"/>
          <p:cNvSpPr/>
          <p:nvPr/>
        </p:nvSpPr>
        <p:spPr>
          <a:xfrm>
            <a:off x="1554480" y="5330952"/>
            <a:ext cx="978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tersimpan otomatis ke Google Drive; pelajari cara share ke dosen.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 Pertama: print()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5943600" cy="2743200"/>
          </a:xfrm>
          <a:prstGeom prst="roundRect">
            <a:avLst>
              <a:gd name="adj" fmla="val 2667"/>
            </a:avLst>
          </a:prstGeom>
          <a:solidFill>
            <a:srgbClr val="10263B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0195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1042416" y="190195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243584" y="1901952"/>
            <a:ext cx="91440" cy="91440"/>
          </a:xfrm>
          <a:prstGeom prst="ellipse">
            <a:avLst/>
          </a:prstGeom>
          <a:solidFill>
            <a:srgbClr val="7EE0A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14884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C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Program pertama saya di RPE311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print("Selamat datang di Dasar Pemrograman")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print("Nama saya:", "Isi nama Anda")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C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coba jalankan dengan Shift+Enter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1737360"/>
            <a:ext cx="4709160" cy="2743200"/>
          </a:xfrm>
          <a:prstGeom prst="roundRect">
            <a:avLst>
              <a:gd name="adj" fmla="val 3333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08660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Latihan Cepat (5 menit)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2331720"/>
            <a:ext cx="4251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kode agar menampilkan: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Nama dan NIM Anda
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Satu kalimat cita-cita profesional Anda di bidang energi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40080" y="470916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BEFD9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470916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Catatan: </a:t>
            </a:r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adalah fungsi bawaan Python untuk menampilkan output ke layar — akan terus dipakai sepanjang semester.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 &amp; Tipe Data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= “wadah” untuk menyimpan nilai. Aturan penamaan: diawali huruf/underscore, case-sensitive, tanpa spasi, bukan keyword Python.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72491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7249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60" y="3364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391363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bulat — mis. output_daya (MW)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502152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5032" y="272491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4" name="Text 11"/>
          <p:cNvSpPr/>
          <p:nvPr/>
        </p:nvSpPr>
        <p:spPr>
          <a:xfrm>
            <a:off x="3685032" y="27249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685032" y="3364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540.5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685032" y="391363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Bilangan desimal — mis. suhu_boiler (°C)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64224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547104" y="272491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9" name="Text 16"/>
          <p:cNvSpPr/>
          <p:nvPr/>
        </p:nvSpPr>
        <p:spPr>
          <a:xfrm>
            <a:off x="6547104" y="27249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547104" y="3364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"Unit 1"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547104" y="391363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 — mis. nama_unit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9226296" y="246888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409176" y="2724912"/>
            <a:ext cx="2240280" cy="50292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24" name="Text 21"/>
          <p:cNvSpPr/>
          <p:nvPr/>
        </p:nvSpPr>
        <p:spPr>
          <a:xfrm>
            <a:off x="9409176" y="27249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9409176" y="336499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False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9409176" y="3913632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benar/salah — mis. status_operasi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E — LIVE CODING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Kasus: Data Operasi Unit Pembangkit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554480"/>
            <a:ext cx="10927080" cy="4434840"/>
          </a:xfrm>
          <a:prstGeom prst="roundRect">
            <a:avLst>
              <a:gd name="adj" fmla="val 1649"/>
            </a:avLst>
          </a:prstGeom>
          <a:solidFill>
            <a:srgbClr val="10263B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71907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1042416" y="171907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243584" y="1719072"/>
            <a:ext cx="91440" cy="91440"/>
          </a:xfrm>
          <a:prstGeom prst="ellipse">
            <a:avLst/>
          </a:prstGeom>
          <a:solidFill>
            <a:srgbClr val="7EE0A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965960"/>
            <a:ext cx="10378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C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Data operasi sederhana satu unit pembangkit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nama_unit = "Unit 1 - PLTU"        # str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suhu_boiler = 540.5                 # float, satuan: derajat Celcius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tekanan_turbin = 12.4               # float, satuan: MPa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output_daya = 250                   # int, satuan: MW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status_operasi = True               # bool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print(nama_unit, "menghasilkan", output_daya, "MW pada suhu", suhu_boiler, "°C")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print("Tipe data suhu_boiler:", type(suhu_boiler))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output_daya += 10   # unit dinaikkan 10 MW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print("Output setelah penyesuaian:", output_daya, "MW")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messag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F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 + f-string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selalu mengembalikan tipe str — gunakan int()/float() untuk konversi sebelum dipakai dalam perhitungan.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011680"/>
            <a:ext cx="10927080" cy="4023360"/>
          </a:xfrm>
          <a:prstGeom prst="roundRect">
            <a:avLst>
              <a:gd name="adj" fmla="val 1818"/>
            </a:avLst>
          </a:prstGeom>
          <a:solidFill>
            <a:srgbClr val="10263B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" y="217627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9" name="Shape 6"/>
          <p:cNvSpPr/>
          <p:nvPr/>
        </p:nvSpPr>
        <p:spPr>
          <a:xfrm>
            <a:off x="1042416" y="217627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0" name="Shape 7"/>
          <p:cNvSpPr/>
          <p:nvPr/>
        </p:nvSpPr>
        <p:spPr>
          <a:xfrm>
            <a:off x="1243584" y="2176272"/>
            <a:ext cx="91440" cy="91440"/>
          </a:xfrm>
          <a:prstGeom prst="ellipse">
            <a:avLst/>
          </a:prstGeom>
          <a:solidFill>
            <a:srgbClr val="7EE0A8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423160"/>
            <a:ext cx="10378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nama_unit = input("Masukkan nama unit pembangkit: 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suhu_boiler = float(input("Masukkan suhu boiler (°C): "))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output_daya = int(input("Masukkan output daya (MW): "))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print(f"Unit {nama_unit} beroperasi pada suhu {suhu_boiler}°C dengan output {output_daya} MW")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7C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f-string: cara modern memformat output, dipakai terus sepanjang semester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kalori_input = float(input("Energi input bahan bakar (MJ): "))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energi_output = float(input("Energi listrik dihasilkan (MJ): "))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efisiensi = (energi_output / kalori_input) * 100</a:t>
            </a:r>
            <a:endParaRPr lang="en-US" sz="13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F2C8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print(f"Efisiensi termal unit ini sekitar {efisiensi:.2f}%")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filetex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Komentar Kode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6126480" cy="3291840"/>
          </a:xfrm>
          <a:prstGeom prst="roundRect">
            <a:avLst>
              <a:gd name="adj" fmla="val 2222"/>
            </a:avLst>
          </a:prstGeom>
          <a:solidFill>
            <a:srgbClr val="10263B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41248" y="1901952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5"/>
          <p:cNvSpPr/>
          <p:nvPr/>
        </p:nvSpPr>
        <p:spPr>
          <a:xfrm>
            <a:off x="1042416" y="1901952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6"/>
          <p:cNvSpPr/>
          <p:nvPr/>
        </p:nvSpPr>
        <p:spPr>
          <a:xfrm>
            <a:off x="1243584" y="1901952"/>
            <a:ext cx="91440" cy="91440"/>
          </a:xfrm>
          <a:prstGeom prst="ellipse">
            <a:avLst/>
          </a:prstGeom>
          <a:solidFill>
            <a:srgbClr val="7EE0A8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214884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7C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Komentar satu baris - penjelasan singkat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Docstring / komentar multi-baris.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Dipakai untuk: nama pembuat, tanggal,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 tujuan program.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D7E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suhu_boiler = 540.5  # satuan: derajat Celcius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949440" y="1737360"/>
            <a:ext cx="4617720" cy="3291840"/>
          </a:xfrm>
          <a:prstGeom prst="roundRect">
            <a:avLst>
              <a:gd name="adj" fmla="val 2778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178040" y="196596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Image 1" descr="/home/claude/icon_check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741" y="208666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1993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Kebiasaan Baik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178040" y="269748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program yang dikumpulkan sepanjang semester wajib punya komentar header: nama, NIM, tanggal, dan tujuan program.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 jadi bagian penilaian portofolio/journal ke depannya.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3" name="Image 0" descr="/home/claude/icon_us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AKTIVITAS H — 50 MENIT, BERPASANGAN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Studi Kasus: Kalkulator Efisiensi Termal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Buatlah program Python di Colab yang: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2037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2203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80160" y="21488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Meminta pengguna memasukkan nama unit pembangkit, energi input bahan bakar (MJ), dan energi listrik yang dihasilkan (MJ).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29169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280160" y="2862072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Menghitung efisiensi termal = (energi output / energi input) × 100.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63016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630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280160" y="357530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Menampilkan hasil dalam kalimat naratif menggunakan f-string, dibulatkan 2 angka desimal.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40080" y="43434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280160" y="4288536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Diberi komentar header (nama kedua anggota, tanggal, tujuan program).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40080" y="5074920"/>
            <a:ext cx="10927080" cy="1051560"/>
          </a:xfrm>
          <a:prstGeom prst="roundRect">
            <a:avLst>
              <a:gd name="adj" fmla="val 6957"/>
            </a:avLst>
          </a:prstGeom>
          <a:solidFill>
            <a:srgbClr val="FBEFD9"/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" y="5074920"/>
            <a:ext cx="10378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Luaran: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pasangan mengumpulkan link Colab (di-share ke dosen) sebagai coding practice pertemuan ini. Selesai lebih cepat? Tambahkan status “Efisiensi baik” jika &gt; 35%, “Perlu evaluasi” jika ≤ 35%.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B2545"/>
          </a:solidFill>
          <a:ln/>
        </p:spPr>
      </p:sp>
      <p:pic>
        <p:nvPicPr>
          <p:cNvPr id="3" name="Image 0" descr="/home/claude/icon_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02336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Rangkuman &amp; Journal Reflection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640080" y="1691640"/>
            <a:ext cx="5120640" cy="3566160"/>
          </a:xfrm>
          <a:prstGeom prst="roundRect">
            <a:avLst>
              <a:gd name="adj" fmla="val 2564"/>
            </a:avLst>
          </a:prstGeom>
          <a:solidFill>
            <a:srgbClr val="F5F7FA"/>
          </a:solidFill>
          <a:ln w="12700">
            <a:solidFill>
              <a:srgbClr val="E1E7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Kita Pelajari Hari Ini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Google Colab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pertama (print)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Variabel &amp; tipe data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&amp; f-string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 kode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1691640"/>
            <a:ext cx="5532120" cy="3566160"/>
          </a:xfrm>
          <a:prstGeom prst="roundRect">
            <a:avLst>
              <a:gd name="adj" fmla="val 2564"/>
            </a:avLst>
          </a:prstGeom>
          <a:solidFill>
            <a:srgbClr val="0B2545"/>
          </a:solidFill>
          <a:ln/>
          <a:effectLst>
            <a:outerShdw sx="100000" sy="100000" kx="0" ky="0" algn="bl" rotWithShape="0" blurRad="101600" dist="38100" dir="5400000">
              <a:srgbClr val="0B2545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920240"/>
            <a:ext cx="502920" cy="50292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1" name="Image 1" descr="/home/claude/icon_filetext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61" y="20409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19476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 Reflection (tulis di Colab)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360" y="260604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Apa hal baru yang paling menarik hari ini?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Bagian mana yang masih terasa sulit?
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4F0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 bagian mana pekerjaan engineer pembangkit bisa dibantu Python?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40080" y="5440680"/>
            <a:ext cx="10927080" cy="777240"/>
          </a:xfrm>
          <a:prstGeom prst="roundRect">
            <a:avLst>
              <a:gd name="adj" fmla="val 9412"/>
            </a:avLst>
          </a:prstGeom>
          <a:solidFill>
            <a:srgbClr val="FBEFD9"/>
          </a:solidFill>
          <a:ln/>
        </p:spPr>
      </p:sp>
      <p:sp>
        <p:nvSpPr>
          <p:cNvPr id="15" name="Text 11"/>
          <p:cNvSpPr/>
          <p:nvPr/>
        </p:nvSpPr>
        <p:spPr>
          <a:xfrm>
            <a:off x="914400" y="5440680"/>
            <a:ext cx="10378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Tugas mandiri (opsional):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program dengan 4 data operasi pembangkit pilihanmu, tampilkan ringkasan naratif dengan f-string + minimal 2 komentar.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RPE311 — Dasar Pemrograman  ·  Pertemuan 1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2026-08-19T07:30:44Z</dcterms:created>
  <dcterms:modified xsi:type="dcterms:W3CDTF">2026-08-19T07:30:44Z</dcterms:modified>
</cp:coreProperties>
</file>